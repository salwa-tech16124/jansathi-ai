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1301" y="31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90299" y="2257425"/>
            <a:ext cx="11211401" cy="733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775"/>
              </a:lnSpc>
            </a:pPr>
            <a:r>
              <a:rPr sz="5250" b="1" i="0" u="none">
                <a:solidFill>
                  <a:srgbClr val="F8FAFC"/>
                </a:solidFill>
                <a:latin typeface="Urbanist"/>
              </a:rPr>
              <a:t>🏛️ JanSathi </a:t>
            </a:r>
            <a:r>
              <a:rPr sz="5250" b="1" i="0" u="none">
                <a:solidFill>
                  <a:srgbClr val="10B981"/>
                </a:solidFill>
                <a:latin typeface="Urbanist"/>
              </a:rPr>
              <a:t>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7237" y="3276600"/>
            <a:ext cx="1067752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sz="2400" b="0" i="0" u="none">
                <a:solidFill>
                  <a:srgbClr val="CBD5E1"/>
                </a:solidFill>
                <a:latin typeface="Urbanist"/>
              </a:rPr>
              <a:t>Empowering Every Indian Citizen Through AI-Powered Public Welfare Assistance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7237" y="4114800"/>
            <a:ext cx="10677525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sz="1800" b="1" i="0" u="none">
                <a:solidFill>
                  <a:srgbClr val="F59E0B"/>
                </a:solidFill>
                <a:latin typeface="Urbanist"/>
              </a:rPr>
              <a:t>An Omnichannel RAG 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76425" y="1853803"/>
            <a:ext cx="8439150" cy="25598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sz="3600" b="0" i="0" u="none">
                <a:solidFill>
                  <a:srgbClr val="F8FAFC"/>
                </a:solidFill>
                <a:latin typeface="Urbanist Medium"/>
              </a:rPr>
              <a:t>Bridging the massive gap between millions of citizens and complex government bureaucracy through accessible, conversational AI.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14837" y="4699396"/>
            <a:ext cx="336232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50" b="1" i="0" u="none">
                <a:solidFill>
                  <a:srgbClr val="F59E0B"/>
                </a:solidFill>
                <a:latin typeface="Urbanist"/>
              </a:rPr>
              <a:t>The Vision Behind JanSathi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09675" y="2234803"/>
            <a:ext cx="3048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0"/>
              </a:lnSpc>
            </a:pPr>
            <a:r>
              <a:rPr sz="9000" b="0" i="0" u="none">
                <a:solidFill>
                  <a:srgbClr val="10B981"/>
                </a:solidFill>
                <a:latin typeface="Urbanist Medium"/>
              </a:rPr>
              <a:t>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77525" y="4413646"/>
            <a:ext cx="3048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0"/>
              </a:lnSpc>
            </a:pPr>
            <a:r>
              <a:rPr sz="9000" b="0" i="0" u="none">
                <a:solidFill>
                  <a:srgbClr val="10B981"/>
                </a:solidFill>
                <a:latin typeface="Urbanist Medium"/>
              </a:rPr>
              <a:t>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1676400"/>
            <a:ext cx="5286375" cy="381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1676400"/>
            <a:ext cx="5286375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F8FAFC"/>
                </a:solidFill>
                <a:latin typeface="Urbanist"/>
              </a:rPr>
              <a:t>JanSathi AI doesn't just search; it </a:t>
            </a:r>
            <a:r>
              <a:rPr sz="1800" b="0" i="0" u="none">
                <a:solidFill>
                  <a:srgbClr val="F59E0B"/>
                </a:solidFill>
                <a:latin typeface="Urbanist"/>
              </a:rPr>
              <a:t>interacts and guides</a:t>
            </a:r>
            <a:r>
              <a:rPr sz="1800" b="0" i="0" u="none">
                <a:solidFill>
                  <a:srgbClr val="F8FAFC"/>
                </a:solidFill>
                <a:latin typeface="Urbanist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2647950"/>
            <a:ext cx="5095875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1" i="0" u="none">
                <a:solidFill>
                  <a:srgbClr val="CBD5E1"/>
                </a:solidFill>
                <a:latin typeface="Urbanist"/>
              </a:rPr>
              <a:t>Interactive Profiling:</a:t>
            </a:r>
            <a:r>
              <a:rPr sz="1650" b="0" i="0" u="none">
                <a:solidFill>
                  <a:srgbClr val="CBD5E1"/>
                </a:solidFill>
                <a:latin typeface="Urbanist"/>
              </a:rPr>
              <a:t> Asks targeted missing profile questions before suggesting schemes.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3514725"/>
            <a:ext cx="5095875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1" i="0" u="none">
                <a:solidFill>
                  <a:srgbClr val="CBD5E1"/>
                </a:solidFill>
                <a:latin typeface="Urbanist"/>
              </a:rPr>
              <a:t>Structured Recommendations:</a:t>
            </a:r>
            <a:r>
              <a:rPr sz="1650" b="0" i="0" u="none">
                <a:solidFill>
                  <a:srgbClr val="CBD5E1"/>
                </a:solidFill>
                <a:latin typeface="Urbanist"/>
              </a:rPr>
              <a:t> Explains exactly </a:t>
            </a:r>
            <a:r>
              <a:rPr sz="1650" b="0" i="1" u="none">
                <a:solidFill>
                  <a:srgbClr val="CBD5E1"/>
                </a:solidFill>
                <a:latin typeface="Urbanist"/>
              </a:rPr>
              <a:t>why</a:t>
            </a:r>
            <a:r>
              <a:rPr sz="1650" b="0" i="0" u="none">
                <a:solidFill>
                  <a:srgbClr val="CBD5E1"/>
                </a:solidFill>
                <a:latin typeface="Urbanist"/>
              </a:rPr>
              <a:t> a scheme matches you and highlights benefits.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4381500"/>
            <a:ext cx="5095875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1" i="0" u="none">
                <a:solidFill>
                  <a:srgbClr val="CBD5E1"/>
                </a:solidFill>
                <a:latin typeface="Urbanist"/>
              </a:rPr>
              <a:t>Step-by-Step Guidance:</a:t>
            </a:r>
            <a:r>
              <a:rPr sz="1650" b="0" i="0" u="none">
                <a:solidFill>
                  <a:srgbClr val="CBD5E1"/>
                </a:solidFill>
                <a:latin typeface="Urbanist"/>
              </a:rPr>
              <a:t> Synthesizes actionable application steps and required documents.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5248275"/>
            <a:ext cx="5095875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1" i="0" u="none">
                <a:solidFill>
                  <a:srgbClr val="CBD5E1"/>
                </a:solidFill>
                <a:latin typeface="Urbanist"/>
              </a:rPr>
              <a:t>Verified Integration:</a:t>
            </a:r>
            <a:r>
              <a:rPr sz="1650" b="0" i="0" u="none">
                <a:solidFill>
                  <a:srgbClr val="CBD5E1"/>
                </a:solidFill>
                <a:latin typeface="Urbanist"/>
              </a:rPr>
              <a:t> Provides direct official myScheme portal links.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3175" y="1695450"/>
            <a:ext cx="5248275" cy="37719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F8FAFC"/>
                </a:solidFill>
                <a:latin typeface="Urbanist"/>
              </a:rPr>
              <a:t>Meet Your AI </a:t>
            </a:r>
            <a:r>
              <a:rPr sz="3600" b="1" i="0" u="none">
                <a:solidFill>
                  <a:srgbClr val="10B981"/>
                </a:solidFill>
                <a:latin typeface="Urbanist"/>
              </a:rPr>
              <a:t>Government Case Worker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625" y="2667000"/>
            <a:ext cx="209550" cy="2190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625" y="3533775"/>
            <a:ext cx="209550" cy="2190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625" y="4400550"/>
            <a:ext cx="209550" cy="21907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625" y="5267325"/>
            <a:ext cx="209550" cy="21907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44DEBA6-939D-DD07-DFA0-298468DC6DF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17539" y="2066925"/>
            <a:ext cx="1533421" cy="303727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6261159-6410-E1B3-15AD-D9EE8730B02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91967" y="2081213"/>
            <a:ext cx="1533421" cy="303727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3019425"/>
            <a:ext cx="5286375" cy="1333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0500"/>
              </a:lnSpc>
            </a:pPr>
            <a:r>
              <a:rPr sz="10500" b="1" i="0" u="none">
                <a:solidFill>
                  <a:srgbClr val="F59E0B"/>
                </a:solidFill>
                <a:latin typeface="Urbanist"/>
              </a:rPr>
              <a:t>3,400+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4448175"/>
            <a:ext cx="5286375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1" i="0" u="none">
                <a:solidFill>
                  <a:srgbClr val="F8FAFC"/>
                </a:solidFill>
                <a:latin typeface="Urbanist"/>
              </a:rPr>
              <a:t>Verified Schemes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34125" y="2362200"/>
            <a:ext cx="5550693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F8FAFC"/>
                </a:solidFill>
                <a:latin typeface="Urbanist"/>
              </a:rPr>
              <a:t>Comprehensive SQLite Database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34125" y="2867025"/>
            <a:ext cx="5286375" cy="742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0" i="0" u="none">
                <a:solidFill>
                  <a:srgbClr val="CBD5E1"/>
                </a:solidFill>
                <a:latin typeface="Urbanist"/>
              </a:rPr>
              <a:t>Pre-loaded, auto-migrated B-Tree indexes spanning 10 core welfare domains.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34125" y="3800475"/>
            <a:ext cx="5286375" cy="1485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sz="1950" b="0" i="0" u="none">
                <a:solidFill>
                  <a:srgbClr val="CBD5E1"/>
                </a:solidFill>
                <a:latin typeface="Urbanist"/>
              </a:rPr>
              <a:t>Powered by </a:t>
            </a:r>
            <a:r>
              <a:rPr sz="1950" b="0" i="0" u="none">
                <a:solidFill>
                  <a:srgbClr val="10B981"/>
                </a:solidFill>
                <a:latin typeface="Urbanist"/>
              </a:rPr>
              <a:t>Domain Synonym Normalization</a:t>
            </a:r>
            <a:r>
              <a:rPr sz="1950" b="0" i="0" u="none">
                <a:solidFill>
                  <a:srgbClr val="CBD5E1"/>
                </a:solidFill>
                <a:latin typeface="Urbanist"/>
              </a:rPr>
              <a:t>, our engine intelligently maps colloquial terms (e.g., "Kisan", "12th class") to official government taxonomy instantly.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F8FAFC"/>
                </a:solidFill>
                <a:latin typeface="Urbanist"/>
              </a:rPr>
              <a:t>Unmatched Scale &amp; </a:t>
            </a:r>
            <a:r>
              <a:rPr sz="3600" b="1" i="0" u="none">
                <a:solidFill>
                  <a:srgbClr val="10B981"/>
                </a:solidFill>
                <a:latin typeface="Urbanist"/>
              </a:rPr>
              <a:t>Data Depth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181225"/>
            <a:ext cx="5286375" cy="3429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125" y="2181225"/>
            <a:ext cx="5286375" cy="3429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62025" y="2667000"/>
            <a:ext cx="4730591" cy="409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0B981"/>
                </a:solidFill>
                <a:latin typeface="Urbanist"/>
              </a:rPr>
              <a:t>Zero-Hallucination RAG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2025" y="3267075"/>
            <a:ext cx="4505325" cy="1714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CBD5E1"/>
                </a:solidFill>
                <a:latin typeface="Urbanist"/>
              </a:rPr>
              <a:t>We enforce strict guardrails. Every response generated by our AI is anchored to the indexed SQLite database. If a scheme doesn't exist in the verified data, the AI will not invent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24650" y="2667000"/>
            <a:ext cx="4730591" cy="409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10B981"/>
                </a:solidFill>
                <a:latin typeface="Urbanist"/>
              </a:rPr>
              <a:t>Automated Ingestion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24650" y="3267075"/>
            <a:ext cx="4505325" cy="1714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CBD5E1"/>
                </a:solidFill>
                <a:latin typeface="Urbanist"/>
              </a:rPr>
              <a:t>A 24-hour non-blocking background scheduler automatically fetches and ingests newly released schemes into the database, ensuring citizens always get up-to-date welfare information.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F8FAFC"/>
                </a:solidFill>
                <a:latin typeface="Urbanist"/>
              </a:rPr>
              <a:t>Core </a:t>
            </a:r>
            <a:r>
              <a:rPr sz="3600" b="1" i="0" u="none">
                <a:solidFill>
                  <a:srgbClr val="10B981"/>
                </a:solidFill>
                <a:latin typeface="Urbanist"/>
              </a:rPr>
              <a:t>Differentiators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900237"/>
            <a:ext cx="3492549" cy="39909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9799" y="1900237"/>
            <a:ext cx="3492549" cy="39909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99" y="1900237"/>
            <a:ext cx="3492549" cy="39909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775" y="2290762"/>
            <a:ext cx="685800" cy="838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6775" y="3367087"/>
            <a:ext cx="2180272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F8FAFC"/>
                </a:solidFill>
                <a:latin typeface="Urbanist"/>
              </a:rPr>
              <a:t>Twilio WhatsApp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75" y="3833812"/>
            <a:ext cx="2901999" cy="15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Urbanist"/>
              </a:rPr>
              <a:t>Live chat via Twilio Sandbox. Citizens can get complete assistance using a simple messaging app they already know and trust.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5074" y="2290762"/>
            <a:ext cx="742950" cy="838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45074" y="3367087"/>
            <a:ext cx="2190273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F8FAFC"/>
                </a:solidFill>
                <a:latin typeface="Urbanist"/>
              </a:rPr>
              <a:t>React Web Portal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5074" y="3833812"/>
            <a:ext cx="2901999" cy="15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Urbanist"/>
              </a:rPr>
              <a:t>A production-ready web UI allowing citizens to track matches, read scheme details, and schedule interactive application reminders.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23374" y="2290762"/>
            <a:ext cx="857250" cy="8382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423374" y="3367087"/>
            <a:ext cx="1510188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F8FAFC"/>
                </a:solidFill>
                <a:latin typeface="Urbanist"/>
              </a:rPr>
              <a:t>Multilingual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23374" y="3833812"/>
            <a:ext cx="2901999" cy="121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Urbanist"/>
              </a:rPr>
              <a:t>Auto-detects queries in Hindi (Devanagari), Hinglish, or English, generating tailored responses in the citizen's preferred language.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9650" y="2471737"/>
            <a:ext cx="400050" cy="4572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87949" y="2471737"/>
            <a:ext cx="457200" cy="4572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66249" y="2471737"/>
            <a:ext cx="571500" cy="4572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F8FAFC"/>
                </a:solidFill>
                <a:latin typeface="Urbanist"/>
              </a:rPr>
              <a:t>The </a:t>
            </a:r>
            <a:r>
              <a:rPr sz="3600" b="1" i="0" u="none">
                <a:solidFill>
                  <a:srgbClr val="10B981"/>
                </a:solidFill>
                <a:latin typeface="Urbanist"/>
              </a:rPr>
              <a:t>Omnichannel</a:t>
            </a:r>
            <a:r>
              <a:rPr sz="3600" b="1" i="0" u="none">
                <a:solidFill>
                  <a:srgbClr val="F8FAFC"/>
                </a:solidFill>
                <a:latin typeface="Urbanist"/>
              </a:rPr>
              <a:t> Experience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71500" y="1400175"/>
            <a:ext cx="11049000" cy="4991100"/>
          </a:xfrm>
          <a:prstGeom prst="roundRect">
            <a:avLst>
              <a:gd name="adj" fmla="val 0"/>
            </a:avLst>
          </a:prstGeom>
          <a:solidFill>
            <a:srgbClr val="1E293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71500" y="1400175"/>
          <a:ext cx="11048999" cy="4991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16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18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854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98220">
                <a:tc>
                  <a:txBody>
                    <a:bodyPr/>
                    <a:lstStyle/>
                    <a:p>
                      <a:pPr algn="l"/>
                      <a:r>
                        <a:rPr sz="1800" b="1" i="0" u="none">
                          <a:solidFill>
                            <a:srgbClr val="F8FAFC"/>
                          </a:solidFill>
                          <a:latin typeface="Urbanist"/>
                        </a:rPr>
                        <a:t>Layer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 i="0" u="none">
                          <a:solidFill>
                            <a:srgbClr val="F8FAFC"/>
                          </a:solidFill>
                          <a:latin typeface="Urbanist"/>
                        </a:rPr>
                        <a:t>Technology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 i="0" u="none">
                          <a:solidFill>
                            <a:srgbClr val="F8FAFC"/>
                          </a:solidFill>
                          <a:latin typeface="Urbanist"/>
                        </a:rPr>
                        <a:t>Purpose &amp; Execution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0B9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98220">
                <a:tc>
                  <a:txBody>
                    <a:bodyPr/>
                    <a:lstStyle/>
                    <a:p>
                      <a:pPr algn="l"/>
                      <a:r>
                        <a:rPr sz="1650" b="1" i="0" u="none">
                          <a:solidFill>
                            <a:srgbClr val="F59E0B"/>
                          </a:solidFill>
                          <a:latin typeface="Urbanist"/>
                        </a:rPr>
                        <a:t>Frontend UI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Urbanist"/>
                        </a:rPr>
                        <a:t>React 18 &amp; TypeScript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Urbanist"/>
                        </a:rPr>
                        <a:t>Responsive Web Portal, integrated directly with FastAPI for single-deployment routing.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98220">
                <a:tc>
                  <a:txBody>
                    <a:bodyPr/>
                    <a:lstStyle/>
                    <a:p>
                      <a:pPr algn="l"/>
                      <a:r>
                        <a:rPr sz="1650" b="1" i="0" u="none">
                          <a:solidFill>
                            <a:srgbClr val="F59E0B"/>
                          </a:solidFill>
                          <a:latin typeface="Urbanist"/>
                        </a:rPr>
                        <a:t>Core Backend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Urbanist"/>
                        </a:rPr>
                        <a:t>FastAPI (Python 3.10+)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Urbanist"/>
                        </a:rPr>
                        <a:t>High-performance routing, intent processing, API endpoints, and webhook management.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98220">
                <a:tc>
                  <a:txBody>
                    <a:bodyPr/>
                    <a:lstStyle/>
                    <a:p>
                      <a:pPr algn="l"/>
                      <a:r>
                        <a:rPr sz="1650" b="1" i="0" u="none">
                          <a:solidFill>
                            <a:srgbClr val="F59E0B"/>
                          </a:solidFill>
                          <a:latin typeface="Urbanist"/>
                        </a:rPr>
                        <a:t>AI &amp; LLM Services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Urbanist"/>
                        </a:rPr>
                        <a:t>Gemini 2.0 &amp; Sarvam AI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Urbanist"/>
                        </a:rPr>
                        <a:t>Gemini powers the Grounded RAG Case Worker; Sarvam handles natural, casual greetings.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98220">
                <a:tc>
                  <a:txBody>
                    <a:bodyPr/>
                    <a:lstStyle/>
                    <a:p>
                      <a:pPr algn="l"/>
                      <a:r>
                        <a:rPr sz="1650" b="1" i="0" u="none">
                          <a:solidFill>
                            <a:srgbClr val="F59E0B"/>
                          </a:solidFill>
                          <a:latin typeface="Urbanist"/>
                        </a:rPr>
                        <a:t>Data &amp; Search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Urbanist"/>
                        </a:rPr>
                        <a:t>SQLite (B-Tree Indexed)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50" b="0" i="0" u="none">
                          <a:solidFill>
                            <a:srgbClr val="CBD5E1"/>
                          </a:solidFill>
                          <a:latin typeface="Urbanist"/>
                        </a:rPr>
                        <a:t>Fast querying of the 3,400+ scheme dataset and conversation memory storage.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71500" y="2157412"/>
            <a:ext cx="2021681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593181" y="2157412"/>
            <a:ext cx="2441823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35004" y="2157412"/>
            <a:ext cx="658549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71500" y="3214687"/>
            <a:ext cx="2021681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593181" y="3214687"/>
            <a:ext cx="2441823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35004" y="3214687"/>
            <a:ext cx="658549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71500" y="4271962"/>
            <a:ext cx="2021681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593181" y="4271962"/>
            <a:ext cx="2441823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035004" y="4271962"/>
            <a:ext cx="658549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71500" y="5329237"/>
            <a:ext cx="2021681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593181" y="5329237"/>
            <a:ext cx="2441823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035004" y="5329237"/>
            <a:ext cx="658549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71500" y="466725"/>
            <a:ext cx="1160145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F8FAFC"/>
                </a:solidFill>
                <a:latin typeface="Urbanist"/>
              </a:rPr>
              <a:t>The </a:t>
            </a:r>
            <a:r>
              <a:rPr sz="3600" b="1" i="0" u="none">
                <a:solidFill>
                  <a:srgbClr val="10B981"/>
                </a:solidFill>
                <a:latin typeface="Urbanist"/>
              </a:rPr>
              <a:t>Technology Stack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571500"/>
            <a:ext cx="5550693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F8FAFC"/>
                </a:solidFill>
                <a:latin typeface="Urbanist"/>
              </a:rPr>
              <a:t>Real-World </a:t>
            </a:r>
            <a:r>
              <a:rPr sz="3600" b="1" i="0" u="none">
                <a:solidFill>
                  <a:srgbClr val="F59E0B"/>
                </a:solidFill>
                <a:latin typeface="Urbanist"/>
              </a:rPr>
              <a:t>Impact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0"/>
            <a:ext cx="5857875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2072878"/>
            <a:ext cx="5286375" cy="15847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sz="1950" b="0" i="0" u="none">
                <a:solidFill>
                  <a:srgbClr val="CBD5E1"/>
                </a:solidFill>
                <a:latin typeface="Urbanist"/>
              </a:rPr>
              <a:t>A rural farmer searching for </a:t>
            </a:r>
            <a:r>
              <a:rPr sz="1950" b="0" i="0" u="none">
                <a:solidFill>
                  <a:srgbClr val="10B981"/>
                </a:solidFill>
                <a:latin typeface="Urbanist"/>
              </a:rPr>
              <a:t>"fasal sahayata"</a:t>
            </a:r>
            <a:r>
              <a:rPr sz="1950" b="0" i="0" u="none">
                <a:solidFill>
                  <a:srgbClr val="CBD5E1"/>
                </a:solidFill>
                <a:latin typeface="Urbanist"/>
              </a:rPr>
              <a:t> or a student looking for </a:t>
            </a:r>
            <a:r>
              <a:rPr sz="1950" b="0" i="0" u="none">
                <a:solidFill>
                  <a:srgbClr val="10B981"/>
                </a:solidFill>
                <a:latin typeface="Urbanist"/>
              </a:rPr>
              <a:t>"Class 12 scholarships"</a:t>
            </a:r>
            <a:r>
              <a:rPr sz="1950" b="0" i="0" u="none">
                <a:solidFill>
                  <a:srgbClr val="CBD5E1"/>
                </a:solidFill>
                <a:latin typeface="Urbanist"/>
              </a:rPr>
              <a:t> no longer faces a wall of complex bureaucratic PDFs.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3895725"/>
            <a:ext cx="5286375" cy="15847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sz="1950" b="0" i="0" u="none">
                <a:solidFill>
                  <a:srgbClr val="CBD5E1"/>
                </a:solidFill>
                <a:latin typeface="Urbanist"/>
              </a:rPr>
              <a:t>Through a simple WhatsApp message, they receive instant, perfectly matched guidance in their native language—complete with next steps and official links.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4529137"/>
            <a:ext cx="3667177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10B981"/>
                </a:solidFill>
                <a:latin typeface="Urbanist"/>
              </a:rPr>
              <a:t>1. Omnichannel Input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4976812"/>
            <a:ext cx="3492549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CBD5E1"/>
                </a:solidFill>
                <a:latin typeface="Urbanist"/>
              </a:rPr>
              <a:t>Queries arrive via Twilio WhatsApp POST Webhook or the React Web Portal API.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49799" y="4529137"/>
            <a:ext cx="3667177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10B981"/>
                </a:solidFill>
                <a:latin typeface="Urbanist"/>
              </a:rPr>
              <a:t>2. Intent &amp; RAG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49799" y="4976812"/>
            <a:ext cx="3492549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CBD5E1"/>
                </a:solidFill>
                <a:latin typeface="Urbanist"/>
              </a:rPr>
              <a:t>FastAPI routes intent, searches indexed SQLite, and feeds top contexts to Gemini 2.0.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28099" y="4529137"/>
            <a:ext cx="3667177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10B981"/>
                </a:solidFill>
                <a:latin typeface="Urbanist"/>
              </a:rPr>
              <a:t>3. Actionable Output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28099" y="4976812"/>
            <a:ext cx="3492549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CBD5E1"/>
                </a:solidFill>
                <a:latin typeface="Urbanist"/>
              </a:rPr>
              <a:t>Citizen receives synthesized, multilingual, step-by-step application guidance.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814512"/>
            <a:ext cx="3492549" cy="2476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9799" y="1814512"/>
            <a:ext cx="3492549" cy="24765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99" y="1814512"/>
            <a:ext cx="3492549" cy="24765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F8FAFC"/>
                </a:solidFill>
                <a:latin typeface="Urbanist"/>
              </a:rPr>
              <a:t>System </a:t>
            </a:r>
            <a:r>
              <a:rPr sz="3600" b="1" i="0" u="none">
                <a:solidFill>
                  <a:srgbClr val="10B981"/>
                </a:solidFill>
                <a:latin typeface="Urbanist"/>
              </a:rPr>
              <a:t>Architecture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95275" y="1852612"/>
            <a:ext cx="11601450" cy="1038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750" b="1" i="0" u="none">
                <a:solidFill>
                  <a:srgbClr val="10B981"/>
                </a:solidFill>
                <a:latin typeface="Urbanist"/>
              </a:rPr>
              <a:t>Ready to Empower?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3081337"/>
            <a:ext cx="11049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sz="2400" b="0" i="0" u="none">
                <a:solidFill>
                  <a:srgbClr val="F8FAFC"/>
                </a:solidFill>
                <a:latin typeface="Urbanist"/>
              </a:rPr>
              <a:t>Thank you for exploring JanSathi AI with us.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4014787"/>
            <a:ext cx="11049000" cy="276225"/>
          </a:xfrm>
          <a:prstGeom prst="rect">
            <a:avLst/>
          </a:prstGeom>
          <a:noFill/>
        </p:spPr>
        <p:txBody>
          <a:bodyPr wrap="square" lIns="314325" tIns="0" rIns="0" bIns="0" anchor="t">
            <a:spAutoFit/>
          </a:bodyPr>
          <a:lstStyle/>
          <a:p>
            <a:pPr algn="ctr"/>
            <a:r>
              <a:rPr sz="1800" b="1" i="0" u="none" dirty="0">
                <a:solidFill>
                  <a:srgbClr val="F59E0B"/>
                </a:solidFill>
                <a:latin typeface="Urbanist"/>
              </a:rPr>
              <a:t> github.com/your-repo/</a:t>
            </a:r>
            <a:r>
              <a:rPr sz="1800" b="1" i="0" u="none" dirty="0" err="1">
                <a:solidFill>
                  <a:srgbClr val="F59E0B"/>
                </a:solidFill>
                <a:latin typeface="Urbanist"/>
              </a:rPr>
              <a:t>jansathi</a:t>
            </a:r>
            <a:r>
              <a:rPr sz="1800" b="1" i="0" u="none" dirty="0">
                <a:solidFill>
                  <a:srgbClr val="F59E0B"/>
                </a:solidFill>
                <a:latin typeface="Urbanist"/>
              </a:rPr>
              <a:t>-ai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4576762"/>
            <a:ext cx="110490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>
                <a:solidFill>
                  <a:srgbClr val="CBD5E1"/>
                </a:solidFill>
                <a:latin typeface="Urbanist"/>
              </a:rPr>
              <a:t>Made with ❤️ for Public Welfare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1950" y="4033837"/>
            <a:ext cx="219075" cy="228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527</Words>
  <Application>Microsoft Office PowerPoint</Application>
  <PresentationFormat>Widescreen</PresentationFormat>
  <Paragraphs>61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Urbanist</vt:lpstr>
      <vt:lpstr>Urbanist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Arpit Mathur</cp:lastModifiedBy>
  <cp:revision>2</cp:revision>
  <dcterms:created xsi:type="dcterms:W3CDTF">2013-01-27T09:14:16Z</dcterms:created>
  <dcterms:modified xsi:type="dcterms:W3CDTF">2026-07-25T10:07:00Z</dcterms:modified>
  <cp:category/>
</cp:coreProperties>
</file>